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20"/>
  </p:notesMasterIdLst>
  <p:handoutMasterIdLst>
    <p:handoutMasterId r:id="rId21"/>
  </p:handoutMasterIdLst>
  <p:sldIdLst>
    <p:sldId id="1497" r:id="rId5"/>
    <p:sldId id="1514" r:id="rId6"/>
    <p:sldId id="1519" r:id="rId7"/>
    <p:sldId id="1523" r:id="rId8"/>
    <p:sldId id="1522" r:id="rId9"/>
    <p:sldId id="1524" r:id="rId10"/>
    <p:sldId id="1530" r:id="rId11"/>
    <p:sldId id="1531" r:id="rId12"/>
    <p:sldId id="1532" r:id="rId13"/>
    <p:sldId id="1525" r:id="rId14"/>
    <p:sldId id="1526" r:id="rId15"/>
    <p:sldId id="1527" r:id="rId16"/>
    <p:sldId id="1528" r:id="rId17"/>
    <p:sldId id="1529" r:id="rId18"/>
    <p:sldId id="152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0079" autoAdjust="0"/>
  </p:normalViewPr>
  <p:slideViewPr>
    <p:cSldViewPr snapToGrid="0">
      <p:cViewPr varScale="1">
        <p:scale>
          <a:sx n="100" d="100"/>
          <a:sy n="100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ohnstaveley/Vectorisation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INTRODUCTION TO VECTORISATION AND SEMANTIC SEARCH</a:t>
            </a:r>
            <a:br>
              <a:rPr lang="en-US" sz="4400" dirty="0"/>
            </a:br>
            <a:br>
              <a:rPr lang="en-US" sz="4400" dirty="0"/>
            </a:br>
            <a:r>
              <a:rPr lang="en-GB" sz="2700" dirty="0"/>
              <a:t>Transforming Data into Meaningful Insights</a:t>
            </a:r>
            <a:endParaRPr lang="en-US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92610" y="1581890"/>
            <a:ext cx="3024899" cy="54790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Presented by John Staveley MVP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Hello, I’m John Staveley</a:t>
            </a:r>
          </a:p>
          <a:p>
            <a:r>
              <a:rPr lang="en-US" dirty="0"/>
              <a:t>25 years as software engineer</a:t>
            </a:r>
          </a:p>
          <a:p>
            <a:r>
              <a:rPr lang="en-US" dirty="0"/>
              <a:t>Community lead at Leeds Data Science, Leeds Sharp and the </a:t>
            </a:r>
            <a:r>
              <a:rPr lang="en-US" dirty="0" err="1"/>
              <a:t>AIoTHub</a:t>
            </a:r>
            <a:endParaRPr lang="en-US" dirty="0"/>
          </a:p>
        </p:txBody>
      </p:sp>
      <p:pic>
        <p:nvPicPr>
          <p:cNvPr id="15" name="Picture Placeholder 14" descr="A white object on a white surface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9422" y="333756"/>
            <a:ext cx="6086539" cy="6190488"/>
          </a:xfrm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56A43E-EAAA-068A-CFF9-C4303077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>
            <a:normAutofit fontScale="90000"/>
          </a:bodyPr>
          <a:lstStyle/>
          <a:p>
            <a:r>
              <a:rPr lang="en-GB" dirty="0"/>
              <a:t>Why Vectorisation matters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CD495-A10C-F2B4-16FF-FC0B27EBF3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>
            <a:normAutofit/>
          </a:bodyPr>
          <a:lstStyle/>
          <a:p>
            <a:r>
              <a:rPr lang="en-GB" dirty="0"/>
              <a:t>Search engine icon → “Better search results”</a:t>
            </a:r>
          </a:p>
          <a:p>
            <a:r>
              <a:rPr lang="en-GB" dirty="0"/>
              <a:t>Shopping cart → “Smarter recommendations”</a:t>
            </a:r>
          </a:p>
          <a:p>
            <a:r>
              <a:rPr lang="en-GB" dirty="0"/>
              <a:t>AI brain → “Semantic understanding”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2178BE-F0C1-75C7-ED67-C1577F4C1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27" r="18457" b="-1"/>
          <a:stretch>
            <a:fillRect/>
          </a:stretch>
        </p:blipFill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59348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4DECC-4134-B9FB-A2E6-AE82E5AC9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LEXICAL VS Similarity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89B5-1792-E0AD-1341-29CFC8160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 want to find animals in some search text e.g. “The Quick brown fox jumped over the lazy dog”</a:t>
            </a:r>
          </a:p>
          <a:p>
            <a:r>
              <a:rPr lang="en-GB" dirty="0"/>
              <a:t>Lexical Search: Text Contains ‘%Dog%’ OR Text Contains ‘%Cat%’ OR Text Contains ‘%Elephant%’ etc </a:t>
            </a:r>
            <a:r>
              <a:rPr lang="en-GB" dirty="0" err="1"/>
              <a:t>etc</a:t>
            </a:r>
            <a:endParaRPr lang="en-GB" dirty="0"/>
          </a:p>
          <a:p>
            <a:r>
              <a:rPr lang="en-GB" dirty="0"/>
              <a:t>Semantic Search: Text Contains ‘Animal’</a:t>
            </a:r>
          </a:p>
        </p:txBody>
      </p:sp>
    </p:spTree>
    <p:extLst>
      <p:ext uri="{BB962C8B-B14F-4D97-AF65-F5344CB8AC3E}">
        <p14:creationId xmlns:p14="http://schemas.microsoft.com/office/powerpoint/2010/main" val="148622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1F5D-DE44-8C14-BB06-F51FAE6C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VECTORISATION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F9765-F363-016D-40D7-7CFFA004D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a vector?</a:t>
            </a:r>
          </a:p>
          <a:p>
            <a:r>
              <a:rPr lang="en-GB" dirty="0"/>
              <a:t>“Text” → embedding vector (small table of numbers)</a:t>
            </a:r>
          </a:p>
          <a:p>
            <a:r>
              <a:rPr lang="en-GB" dirty="0"/>
              <a:t>“Image/Sound/Video” → feature vector</a:t>
            </a:r>
          </a:p>
        </p:txBody>
      </p:sp>
      <p:pic>
        <p:nvPicPr>
          <p:cNvPr id="1026" name="Picture 2" descr="Understanding Text-to-Vector Representation: From Tokenization to ...">
            <a:extLst>
              <a:ext uri="{FF2B5EF4-FFF2-40B4-BE49-F238E27FC236}">
                <a16:creationId xmlns:a16="http://schemas.microsoft.com/office/drawing/2014/main" id="{A704559F-7ECF-F2D4-ACDC-749CCFF33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678" y="2657475"/>
            <a:ext cx="652462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21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A219-D278-178C-ADD6-5F6732D2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SIMILARITY METRICS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DD399AB-E65D-B2BB-DC01-482C59A4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39" y="1371890"/>
            <a:ext cx="9970851" cy="506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5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754C30-484B-9B67-A3A8-618CE3883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18" y="409074"/>
            <a:ext cx="10081363" cy="5900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2CC83-1A46-C90F-291E-DA203D1C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ARCHitecture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274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5EE81-1F2F-A610-AA90-B079F3906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F06D4-6498-82C7-98AE-6F751EB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DeepSeek - open reasoning models with performance approaching that of leading models</a:t>
            </a:r>
          </a:p>
          <a:p>
            <a:r>
              <a:rPr lang="en-GB" dirty="0"/>
              <a:t>Llama 3.2 – State of the art model</a:t>
            </a:r>
          </a:p>
          <a:p>
            <a:r>
              <a:rPr lang="en-GB" dirty="0" err="1"/>
              <a:t>Llava</a:t>
            </a:r>
            <a:r>
              <a:rPr lang="en-GB" dirty="0"/>
              <a:t> – Image to text model</a:t>
            </a:r>
          </a:p>
          <a:p>
            <a:r>
              <a:rPr lang="en-GB" dirty="0"/>
              <a:t>Phi – Coding help and debugging</a:t>
            </a:r>
          </a:p>
          <a:p>
            <a:r>
              <a:rPr lang="en-GB" dirty="0"/>
              <a:t>Nomic-embed-text – High performance embedding model</a:t>
            </a:r>
          </a:p>
          <a:p>
            <a:r>
              <a:rPr lang="en-GB" dirty="0"/>
              <a:t>Lots of others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3620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906C-FB9C-4C8D-E54B-49A11BB3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ELASTICSEARCH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DC4D5-53C5-68C7-5DFE-126506597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Json format, </a:t>
            </a:r>
            <a:r>
              <a:rPr lang="en-GB" dirty="0" err="1"/>
              <a:t>schemaless</a:t>
            </a:r>
            <a:endParaRPr lang="en-GB" dirty="0"/>
          </a:p>
          <a:p>
            <a:r>
              <a:rPr lang="en-GB" dirty="0"/>
              <a:t>Open source</a:t>
            </a:r>
          </a:p>
          <a:p>
            <a:r>
              <a:rPr lang="en-GB" dirty="0"/>
              <a:t>Full-Text search</a:t>
            </a:r>
          </a:p>
          <a:p>
            <a:r>
              <a:rPr lang="en-GB" dirty="0"/>
              <a:t>Rest </a:t>
            </a:r>
            <a:r>
              <a:rPr lang="en-GB" dirty="0" err="1"/>
              <a:t>api</a:t>
            </a:r>
            <a:endParaRPr lang="en-GB" dirty="0"/>
          </a:p>
          <a:p>
            <a:r>
              <a:rPr lang="en-GB" dirty="0"/>
              <a:t>Distributed and scalable</a:t>
            </a:r>
          </a:p>
          <a:p>
            <a:r>
              <a:rPr lang="en-GB" dirty="0"/>
              <a:t>Spatial and vector search</a:t>
            </a:r>
          </a:p>
        </p:txBody>
      </p:sp>
    </p:spTree>
    <p:extLst>
      <p:ext uri="{BB962C8B-B14F-4D97-AF65-F5344CB8AC3E}">
        <p14:creationId xmlns:p14="http://schemas.microsoft.com/office/powerpoint/2010/main" val="2366443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6254-4B89-8ECA-D8D5-311F7F4F2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Similarity Search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43BE3-2AF0-F357-B280-6A86AA7CC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6721603" cy="4593828"/>
          </a:xfrm>
        </p:spPr>
        <p:txBody>
          <a:bodyPr/>
          <a:lstStyle/>
          <a:p>
            <a:r>
              <a:rPr lang="en-GB" dirty="0"/>
              <a:t>            →              →            →           → </a:t>
            </a:r>
          </a:p>
          <a:p>
            <a:r>
              <a:rPr lang="en-GB" dirty="0"/>
              <a:t>Query → Vectorisation → Index → Search → Results</a:t>
            </a:r>
          </a:p>
          <a:p>
            <a:r>
              <a:rPr lang="en-GB" dirty="0"/>
              <a:t>Demo time!</a:t>
            </a:r>
          </a:p>
          <a:p>
            <a:endParaRPr lang="en-GB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37FDE1-D8E9-4B76-2487-89A2877EA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681" y="2652434"/>
            <a:ext cx="8524672" cy="3656926"/>
          </a:xfrm>
          <a:prstGeom prst="rect">
            <a:avLst/>
          </a:prstGeom>
        </p:spPr>
      </p:pic>
      <p:pic>
        <p:nvPicPr>
          <p:cNvPr id="1028" name="Picture 4" descr="Document file icon. Paper doc sign 9362964 PNG">
            <a:extLst>
              <a:ext uri="{FF2B5EF4-FFF2-40B4-BE49-F238E27FC236}">
                <a16:creationId xmlns:a16="http://schemas.microsoft.com/office/drawing/2014/main" id="{413A3AE7-1227-2E33-A24C-108AF3445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774" y="1715532"/>
            <a:ext cx="472662" cy="45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trix Icons - Free SVG &amp; PNG Matrix Images - Noun Project">
            <a:extLst>
              <a:ext uri="{FF2B5EF4-FFF2-40B4-BE49-F238E27FC236}">
                <a16:creationId xmlns:a16="http://schemas.microsoft.com/office/drawing/2014/main" id="{C9A19F97-7A26-73E8-0D3E-954A8CC19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802" y="1680898"/>
            <a:ext cx="524248" cy="52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atabase Free Download Png Transparent HQ PNG Download | FreePNGimg">
            <a:extLst>
              <a:ext uri="{FF2B5EF4-FFF2-40B4-BE49-F238E27FC236}">
                <a16:creationId xmlns:a16="http://schemas.microsoft.com/office/drawing/2014/main" id="{15631035-50A8-11AF-1969-0D494C3A0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590" y="1678464"/>
            <a:ext cx="524248" cy="52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agnifying glass - Free education icons">
            <a:extLst>
              <a:ext uri="{FF2B5EF4-FFF2-40B4-BE49-F238E27FC236}">
                <a16:creationId xmlns:a16="http://schemas.microsoft.com/office/drawing/2014/main" id="{4022766F-5747-6E09-C3A7-9382F1B8E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79" y="1678464"/>
            <a:ext cx="524248" cy="52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ist - Free files and folders icons">
            <a:extLst>
              <a:ext uri="{FF2B5EF4-FFF2-40B4-BE49-F238E27FC236}">
                <a16:creationId xmlns:a16="http://schemas.microsoft.com/office/drawing/2014/main" id="{A0554E42-2570-F7D8-6AE6-DE5036693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917" y="1647377"/>
            <a:ext cx="59055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86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C2D0-18C5-AA32-6370-D6A856FEC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790C5-464B-4F10-60BC-9B53CB019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7928238" cy="4593828"/>
          </a:xfrm>
        </p:spPr>
        <p:txBody>
          <a:bodyPr/>
          <a:lstStyle/>
          <a:p>
            <a:r>
              <a:rPr lang="en-GB" dirty="0"/>
              <a:t>3-column layout:</a:t>
            </a:r>
          </a:p>
          <a:p>
            <a:r>
              <a:rPr lang="en-GB" dirty="0"/>
              <a:t>Brute Force → </a:t>
            </a:r>
          </a:p>
          <a:p>
            <a:r>
              <a:rPr lang="en-GB" dirty="0"/>
              <a:t>ANN →</a:t>
            </a:r>
          </a:p>
          <a:p>
            <a:r>
              <a:rPr lang="en-GB" dirty="0"/>
              <a:t>Indexing methods</a:t>
            </a:r>
          </a:p>
          <a:p>
            <a:pPr lvl="1"/>
            <a:r>
              <a:rPr lang="en-GB" dirty="0"/>
              <a:t>Flat index → High accuracy, computationally expensive</a:t>
            </a:r>
          </a:p>
          <a:p>
            <a:pPr lvl="1"/>
            <a:r>
              <a:rPr lang="en-GB" dirty="0"/>
              <a:t>HNSW → Large datasets, performance required</a:t>
            </a:r>
          </a:p>
          <a:p>
            <a:pPr lvl="1"/>
            <a:r>
              <a:rPr lang="en-GB" dirty="0"/>
              <a:t>IVF → large datasets where speed is crucial</a:t>
            </a:r>
          </a:p>
          <a:p>
            <a:pPr lvl="1"/>
            <a:r>
              <a:rPr lang="en-GB" dirty="0"/>
              <a:t>PQ → faster lookup, accuracy loss. Can be combined with other methods</a:t>
            </a:r>
          </a:p>
          <a:p>
            <a:endParaRPr lang="en-GB" dirty="0"/>
          </a:p>
        </p:txBody>
      </p:sp>
      <p:pic>
        <p:nvPicPr>
          <p:cNvPr id="2050" name="Picture 2" descr="Turtle - Free animals icons">
            <a:extLst>
              <a:ext uri="{FF2B5EF4-FFF2-40B4-BE49-F238E27FC236}">
                <a16:creationId xmlns:a16="http://schemas.microsoft.com/office/drawing/2014/main" id="{A255B53F-A76A-D310-C2C8-17E8F6525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728" y="2021732"/>
            <a:ext cx="703634" cy="70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are - Free animals icons">
            <a:extLst>
              <a:ext uri="{FF2B5EF4-FFF2-40B4-BE49-F238E27FC236}">
                <a16:creationId xmlns:a16="http://schemas.microsoft.com/office/drawing/2014/main" id="{64686182-0E1F-2F68-A900-D91C64B18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884" y="2436555"/>
            <a:ext cx="703634" cy="70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ontent, document, indexing, pointer, search icon - Download on Iconfinder">
            <a:extLst>
              <a:ext uri="{FF2B5EF4-FFF2-40B4-BE49-F238E27FC236}">
                <a16:creationId xmlns:a16="http://schemas.microsoft.com/office/drawing/2014/main" id="{A008A194-3ABD-FE31-A5D0-E67ACC188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545" y="2996626"/>
            <a:ext cx="432374" cy="43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486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B240-B1AB-4A29-9334-5BD310DF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Real-World Applications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63C9F8-E817-022A-C15C-0097FB714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962229"/>
              </p:ext>
            </p:extLst>
          </p:nvPr>
        </p:nvGraphicFramePr>
        <p:xfrm>
          <a:off x="1374775" y="2240280"/>
          <a:ext cx="81280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0423781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07266952"/>
                    </a:ext>
                  </a:extLst>
                </a:gridCol>
              </a:tblGrid>
              <a:tr h="3285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E-commerce product grid.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Image search results.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99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Medical scan comparison.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Face recognition overlay.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103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925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0959-F9D9-A1E4-9CE1-B9F90A12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971BC-B60F-2DAE-0CAC-1813BC794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4988053" cy="4593828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             → “High-dimensional cost”</a:t>
            </a:r>
          </a:p>
          <a:p>
            <a:r>
              <a:rPr lang="en-GB" dirty="0"/>
              <a:t>             → “Bias in embeddings”</a:t>
            </a:r>
          </a:p>
          <a:p>
            <a:r>
              <a:rPr lang="en-GB" dirty="0"/>
              <a:t>             → “Dynamic datasets”</a:t>
            </a:r>
          </a:p>
          <a:p>
            <a:endParaRPr lang="en-GB" dirty="0"/>
          </a:p>
        </p:txBody>
      </p:sp>
      <p:sp>
        <p:nvSpPr>
          <p:cNvPr id="4" name="AutoShape 2" descr="See related image detail. Server rack storage icon, isometric style 15887923 Vector Art at Vecteezy">
            <a:extLst>
              <a:ext uri="{FF2B5EF4-FFF2-40B4-BE49-F238E27FC236}">
                <a16:creationId xmlns:a16="http://schemas.microsoft.com/office/drawing/2014/main" id="{39007D8C-4184-7A85-A7C1-A158F5A869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29213" y="2462213"/>
            <a:ext cx="193357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 descr="A stack of black computer servers&#10;&#10;AI-generated content may be incorrect.">
            <a:extLst>
              <a:ext uri="{FF2B5EF4-FFF2-40B4-BE49-F238E27FC236}">
                <a16:creationId xmlns:a16="http://schemas.microsoft.com/office/drawing/2014/main" id="{BDC5FA74-C97A-761E-BA07-D5FA8F106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2025658"/>
            <a:ext cx="609853" cy="608257"/>
          </a:xfrm>
          <a:prstGeom prst="rect">
            <a:avLst/>
          </a:prstGeom>
        </p:spPr>
      </p:pic>
      <p:pic>
        <p:nvPicPr>
          <p:cNvPr id="9" name="Picture 8" descr="A black and white scale&#10;&#10;AI-generated content may be incorrect.">
            <a:extLst>
              <a:ext uri="{FF2B5EF4-FFF2-40B4-BE49-F238E27FC236}">
                <a16:creationId xmlns:a16="http://schemas.microsoft.com/office/drawing/2014/main" id="{5C22C998-D1BC-02F4-B19C-6EC3E8113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09" y="2668549"/>
            <a:ext cx="485983" cy="390025"/>
          </a:xfrm>
          <a:prstGeom prst="rect">
            <a:avLst/>
          </a:prstGeom>
        </p:spPr>
      </p:pic>
      <p:pic>
        <p:nvPicPr>
          <p:cNvPr id="3078" name="Picture 6" descr="Refresh Icon Style 13077502 Vector Art at Vecteezy">
            <a:extLst>
              <a:ext uri="{FF2B5EF4-FFF2-40B4-BE49-F238E27FC236}">
                <a16:creationId xmlns:a16="http://schemas.microsoft.com/office/drawing/2014/main" id="{2C6D8109-2DF1-76E2-C53B-1440ABE2A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09" y="3083683"/>
            <a:ext cx="485983" cy="48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807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50B1-CDCF-A04B-8F35-611905B3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7E35-B7C2-05CF-3F25-A864BBF8A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Futuristic gradient background.</a:t>
            </a:r>
          </a:p>
          <a:p>
            <a:r>
              <a:rPr lang="en-GB" dirty="0"/>
              <a:t>cons for:</a:t>
            </a:r>
          </a:p>
          <a:p>
            <a:r>
              <a:rPr lang="en-GB" dirty="0"/>
              <a:t>Multimodal AI (</a:t>
            </a:r>
            <a:r>
              <a:rPr lang="en-GB" dirty="0" err="1"/>
              <a:t>text+image+audio</a:t>
            </a:r>
            <a:r>
              <a:rPr lang="en-GB" dirty="0"/>
              <a:t> combined)</a:t>
            </a:r>
          </a:p>
          <a:p>
            <a:r>
              <a:rPr lang="en-GB" dirty="0"/>
              <a:t>Mobile device with lock (on-device search)</a:t>
            </a:r>
          </a:p>
          <a:p>
            <a:r>
              <a:rPr lang="en-GB" dirty="0"/>
              <a:t>AI brain with gears (self-learning indexes).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774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759B-3A1F-72FE-5820-230DA9CA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4401CB1C-4C1C-92E6-9005-752038E161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3239-8DF8-35CB-3EC5-967A5CC50F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9983" y="2825496"/>
            <a:ext cx="5214026" cy="3125201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GB" sz="1700" dirty="0"/>
              <a:t>Data -&gt; Vectors</a:t>
            </a:r>
          </a:p>
          <a:p>
            <a:pPr>
              <a:lnSpc>
                <a:spcPct val="130000"/>
              </a:lnSpc>
            </a:pPr>
            <a:r>
              <a:rPr lang="en-GB" sz="1700" dirty="0"/>
              <a:t>Vectors -&gt; Similarity Search</a:t>
            </a:r>
          </a:p>
          <a:p>
            <a:pPr>
              <a:lnSpc>
                <a:spcPct val="130000"/>
              </a:lnSpc>
            </a:pPr>
            <a:r>
              <a:rPr lang="en-GB" sz="1700" dirty="0"/>
              <a:t>AI -&gt; Smarter Results</a:t>
            </a:r>
          </a:p>
          <a:p>
            <a:pPr>
              <a:lnSpc>
                <a:spcPct val="130000"/>
              </a:lnSpc>
            </a:pPr>
            <a:r>
              <a:rPr lang="en-GB" sz="1700" dirty="0"/>
              <a:t>Slides and code: </a:t>
            </a:r>
            <a:r>
              <a:rPr lang="en-GB" sz="1700" dirty="0">
                <a:hlinkClick r:id="rId2"/>
              </a:rPr>
              <a:t>https://github.com/johnstaveley/Vectorisation</a:t>
            </a:r>
            <a:endParaRPr lang="en-GB" sz="1700" dirty="0"/>
          </a:p>
          <a:p>
            <a:pPr>
              <a:lnSpc>
                <a:spcPct val="130000"/>
              </a:lnSpc>
            </a:pPr>
            <a:r>
              <a:rPr lang="en-GB" sz="17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38784338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{479062D1-9398-4715-8136-2DC5720EE067}f4c2fa09-5552-4190-875c-1979579583e2-TFc553d604-a3b6-4c52-b2ed-3a769335c0fd_win32</Template>
  <TotalTime>139</TotalTime>
  <Words>388</Words>
  <Application>Microsoft Office PowerPoint</Application>
  <PresentationFormat>Widescreen</PresentationFormat>
  <Paragraphs>69</Paragraphs>
  <Slides>15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Lora</vt:lpstr>
      <vt:lpstr>Playfair Display Black</vt:lpstr>
      <vt:lpstr>Poppins Light</vt:lpstr>
      <vt:lpstr>Gradient Circle</vt:lpstr>
      <vt:lpstr>INTRODUCTION TO VECTORISATION AND SEMANTIC SEARCH  Transforming Data into Meaningful Insights</vt:lpstr>
      <vt:lpstr>Welcome</vt:lpstr>
      <vt:lpstr>Why Vectorisation matters</vt:lpstr>
      <vt:lpstr>LEXICAL VS Similarity search</vt:lpstr>
      <vt:lpstr>VECTORISATION BASICS</vt:lpstr>
      <vt:lpstr>SIMILARITY METRICS</vt:lpstr>
      <vt:lpstr>ARCHitecture</vt:lpstr>
      <vt:lpstr>OLLAMA</vt:lpstr>
      <vt:lpstr>ELASTICSEARCH</vt:lpstr>
      <vt:lpstr>VECTOR Similarity Search Process</vt:lpstr>
      <vt:lpstr>INDEXING methods</vt:lpstr>
      <vt:lpstr>Real-World Applications</vt:lpstr>
      <vt:lpstr>CHALLENGES</vt:lpstr>
      <vt:lpstr>Future Trends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johnstaveley</dc:creator>
  <cp:lastModifiedBy>johnstaveley</cp:lastModifiedBy>
  <cp:revision>12</cp:revision>
  <dcterms:created xsi:type="dcterms:W3CDTF">2026-02-10T05:58:54Z</dcterms:created>
  <dcterms:modified xsi:type="dcterms:W3CDTF">2026-03-03T08:30:11Z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